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0A89D">
              <a:alpha val="25000"/>
            </a:srgbClr>
          </a:solidFill>
          <a:ln w="12700">
            <a:solidFill>
              <a:srgbClr val="00A89D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E8523A">
              <a:alpha val="25000"/>
            </a:srgbClr>
          </a:solidFill>
          <a:ln w="12700">
            <a:solidFill>
              <a:srgbClr val="E8523A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Candidate Ranking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who fits — not just who matches keywords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3657600" cy="36576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8346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B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Redrob Hackathon  ·  Senior AI Engineer  ·  100,000 Candidates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47472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243660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3520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0080" y="4069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88920" y="347472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243660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88920" y="3520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&lt;35s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788920" y="4069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(CPU only)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37760" y="347472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243660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3520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937760" y="4069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86600" y="347472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243660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86600" y="3520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086600" y="4069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candidates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Introduction: What This System Does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recruiter-grade ranking engine — no LLMs, no APIs, no GPU required.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35608"/>
            <a:ext cx="347472" cy="347472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35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3441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Job Description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60934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must-have skills, bonus skills, required YoE band, location preference, and seniority signals from JD text or DOCX.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029968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185416"/>
            <a:ext cx="347472" cy="347472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85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0939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Candidates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35915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100K candidates as a streaming JSONL — never loads full dataset into memory. Each record scored independently.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779776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2935224"/>
            <a:ext cx="347472" cy="347472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935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8437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Four-Dimension Score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31089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match (30%) + Career depth (35%) + Behavioral signals (20%) + Location fit (15%) × availability multiplier.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529584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685032"/>
            <a:ext cx="347472" cy="347472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85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35935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Re-ranking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38587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1,000 pool re-ranked using BM25 + sentence-transformers cosine similarity against JD text for precision boost.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279392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4434840"/>
            <a:ext cx="347472" cy="347472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434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43434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&amp; Validate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460857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top-100 CSV: candidate_id · rank · score · reasoning. Passes validate_submission.py with 0 errors.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 &amp; 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run anywhere — laptop, server, or cloud free tier.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160520" cy="1078992"/>
          </a:xfrm>
          <a:prstGeom prst="roundRect">
            <a:avLst>
              <a:gd name="adj" fmla="val 8475"/>
            </a:avLst>
          </a:prstGeom>
          <a:solidFill>
            <a:srgbClr val="24366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399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1417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35 seconds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9842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candidates scored end-to-end on a standard laptop CPU. Parallel workers via concurrent.futures.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4160520" cy="1078992"/>
          </a:xfrm>
          <a:prstGeom prst="roundRect">
            <a:avLst>
              <a:gd name="adj" fmla="val 8475"/>
            </a:avLst>
          </a:prstGeom>
          <a:solidFill>
            <a:srgbClr val="243660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1399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49240" y="1417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49240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400 MB RAM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19842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JSONL reader — never loads full dataset. Top-1000 pool for semantic stage only.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2560320"/>
            <a:ext cx="4160520" cy="1078992"/>
          </a:xfrm>
          <a:prstGeom prst="roundRect">
            <a:avLst>
              <a:gd name="adj" fmla="val 8475"/>
            </a:avLst>
          </a:prstGeom>
          <a:solidFill>
            <a:srgbClr val="243660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51560" y="2651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Only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51560" y="28895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needed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32186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scoring is pure NumPy / scikit-learn math. Sentence-transformers inference runs on CPU for re-ranking.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2560320"/>
            <a:ext cx="4160520" cy="1078992"/>
          </a:xfrm>
          <a:prstGeom prst="roundRect">
            <a:avLst>
              <a:gd name="adj" fmla="val 8475"/>
            </a:avLst>
          </a:prstGeom>
          <a:solidFill>
            <a:srgbClr val="243660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49240" y="2651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49240" y="28895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for CLI mode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32186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ranker_v3.py uses stdlib only for core ranking. Streamlit UI adds pandas, plotly, sentence-transformers.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794760"/>
            <a:ext cx="4160520" cy="1078992"/>
          </a:xfrm>
          <a:prstGeom prst="roundRect">
            <a:avLst>
              <a:gd name="adj" fmla="val 8475"/>
            </a:avLst>
          </a:prstGeom>
          <a:solidFill>
            <a:srgbClr val="243660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867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51560" y="38862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" y="41239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 +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" y="4453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version-specific APIs. Tested on 3.9, 3.11, 3.12. Works on macOS, Linux, Windows.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63440" y="3794760"/>
            <a:ext cx="4160520" cy="1078992"/>
          </a:xfrm>
          <a:prstGeom prst="roundRect">
            <a:avLst>
              <a:gd name="adj" fmla="val 8475"/>
            </a:avLst>
          </a:prstGeom>
          <a:solidFill>
            <a:srgbClr val="243660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3867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349240" y="38862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49240" y="41239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rows · CSV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00600" y="4453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candidate_id, rank, score, reasoning — monotone scores, passes validate_submission.py with 0 errors.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How We Solved Them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engineering problems that keyword rankers ignore entirely.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35608"/>
            <a:ext cx="347472" cy="347472"/>
          </a:xfrm>
          <a:prstGeom prst="ellipse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35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33502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Heterogeneity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5819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Candidates use different field names, nested objects, missing values, mixed types.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5029200" y="15819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DB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Defensive getters with fallbacks. Normalise YoE, notice period, skills list at ingest.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65760" y="2029968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185416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85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0848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 / Fake Profiles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3317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~80 planted profiles with impossible skill combos, zeroed signals, salary inversions.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5029200" y="2331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DB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5 rule-based detectors fire before scoring. Flagged candidates get score = 0.0.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365760" y="2779776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935224"/>
            <a:ext cx="347472" cy="347472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935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28346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 / No API Access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0815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Cannot call GPT or any external service. Must infer seniority from raw text alone.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5029200" y="30815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DB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Keyword taxonomy of 40+ terms mapped to JD vocabulary. Career text regex for production evidence.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365760" y="3529584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3685032"/>
            <a:ext cx="347472" cy="347472"/>
          </a:xfrm>
          <a:prstGeom prst="ellipse">
            <a:avLst/>
          </a:prstGeom>
          <a:solidFill>
            <a:srgbClr val="2DB88C"/>
          </a:solidFill>
          <a:ln w="12700">
            <a:solidFill>
              <a:srgbClr val="2DB8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685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35844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vs. Skill Trade-off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383133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High-skill but inactive/unresponsive candidates should not dominate the list.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5029200" y="383133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DB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Multiplicative availability factor (0.45 + 0.55×avail) demotes unreachable candidates regardless of skill.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365760" y="4279392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2920" y="4434840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434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05840" y="43342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100K Candidates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05840" y="458114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Loading all 100K into memory and scoring serially would be too slow.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5029200" y="458114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DB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Streaming JSONL reader + concurrent.futures parallel scoring + top-1000 pool for semantic stage.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Keyword Search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4114800" cy="594360"/>
          </a:xfrm>
          <a:prstGeom prst="roundRect">
            <a:avLst>
              <a:gd name="adj" fmla="val 15385"/>
            </a:avLst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What keyword filters do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Match 'Pinecone' in skills → include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Miss 'built hybrid search over 50M profiles' in career description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8803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Rank a Marketing Manager #1 because they listed 9 AI skills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3474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Ignore Search Eng. at Swiggy who never typed 'vector database'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4069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Ignore availability — inactive 11 months, 5% response rate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92040" y="100584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1005840"/>
            <a:ext cx="4114800" cy="594360"/>
          </a:xfrm>
          <a:prstGeom prst="roundRect">
            <a:avLst>
              <a:gd name="adj" fmla="val 15385"/>
            </a:avLst>
          </a:prstGeom>
          <a:solidFill>
            <a:srgbClr val="2DB88C"/>
          </a:solidFill>
          <a:ln w="12700">
            <a:solidFill>
              <a:srgbClr val="2DB8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0058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 a great recruiter does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16916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Reads career history for evidence of shipped systems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2860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Understands 'designed relevance labeling pipeline' = ranking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28803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Checks behavioral signals: active? responsive? available?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3474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Weights India/preferred city location appropriately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4069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Spots impossible profiles and keyword-stuffed honeypots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Four-Dimensional Scoring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dimension reads the candidate differently. No embeddings, no APIs — pure structured-data reasoning.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965960" cy="3383280"/>
          </a:xfrm>
          <a:prstGeom prst="roundRect">
            <a:avLst>
              <a:gd name="adj" fmla="val 4651"/>
            </a:avLst>
          </a:prstGeom>
          <a:solidFill>
            <a:srgbClr val="24366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0"/>
            <a:ext cx="1965960" cy="685800"/>
          </a:xfrm>
          <a:prstGeom prst="roundRect">
            <a:avLst>
              <a:gd name="adj" fmla="val 13333"/>
            </a:avLst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8988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Match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1783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B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JD-derived skill taxonomy vs. skills list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B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Must-haves: embeddings, vector DB, ranking, Python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B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LangChain, LLM fine-tuning, MLOps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14600" y="1371600"/>
            <a:ext cx="1965960" cy="3383280"/>
          </a:xfrm>
          <a:prstGeom prst="roundRect">
            <a:avLst>
              <a:gd name="adj" fmla="val 4651"/>
            </a:avLst>
          </a:prstGeom>
          <a:solidFill>
            <a:srgbClr val="243660"/>
          </a:solidFill>
          <a:ln/>
        </p:spPr>
      </p:sp>
      <p:sp>
        <p:nvSpPr>
          <p:cNvPr id="10" name="Shape 8"/>
          <p:cNvSpPr/>
          <p:nvPr/>
        </p:nvSpPr>
        <p:spPr>
          <a:xfrm>
            <a:off x="2514600" y="1371600"/>
            <a:ext cx="1965960" cy="685800"/>
          </a:xfrm>
          <a:prstGeom prst="roundRect">
            <a:avLst>
              <a:gd name="adj" fmla="val 13333"/>
            </a:avLst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38988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14600" y="1828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Depth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606040" y="2286000"/>
            <a:ext cx="1783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B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analysis of career descriptions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B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of shipped retrieval/ranking systems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B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vs. services companies; YoE band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1965960" cy="3383280"/>
          </a:xfrm>
          <a:prstGeom prst="roundRect">
            <a:avLst>
              <a:gd name="adj" fmla="val 4651"/>
            </a:avLst>
          </a:prstGeom>
          <a:solidFill>
            <a:srgbClr val="243660"/>
          </a:solidFill>
          <a:ln/>
        </p:spPr>
      </p:sp>
      <p:sp>
        <p:nvSpPr>
          <p:cNvPr id="15" name="Shape 13"/>
          <p:cNvSpPr/>
          <p:nvPr/>
        </p:nvSpPr>
        <p:spPr>
          <a:xfrm>
            <a:off x="4663440" y="1371600"/>
            <a:ext cx="1965960" cy="685800"/>
          </a:xfrm>
          <a:prstGeom prst="roundRect">
            <a:avLst>
              <a:gd name="adj" fmla="val 13333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38988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0" y="1828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Signals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54880" y="2286000"/>
            <a:ext cx="1783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B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active date, open-to-work flag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B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response rate, interview completion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B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period, GitHub activity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12280" y="1371600"/>
            <a:ext cx="1965960" cy="3383280"/>
          </a:xfrm>
          <a:prstGeom prst="roundRect">
            <a:avLst>
              <a:gd name="adj" fmla="val 4651"/>
            </a:avLst>
          </a:prstGeom>
          <a:solidFill>
            <a:srgbClr val="243660"/>
          </a:solidFill>
          <a:ln/>
        </p:spPr>
      </p:sp>
      <p:sp>
        <p:nvSpPr>
          <p:cNvPr id="20" name="Shape 18"/>
          <p:cNvSpPr/>
          <p:nvPr/>
        </p:nvSpPr>
        <p:spPr>
          <a:xfrm>
            <a:off x="6812280" y="1371600"/>
            <a:ext cx="1965960" cy="685800"/>
          </a:xfrm>
          <a:prstGeom prst="roundRect">
            <a:avLst>
              <a:gd name="adj" fmla="val 13333"/>
            </a:avLst>
          </a:prstGeom>
          <a:solidFill>
            <a:srgbClr val="2DB88C"/>
          </a:solidFill>
          <a:ln w="12700">
            <a:solidFill>
              <a:srgbClr val="2DB8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138988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12280" y="1828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Fit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903720" y="2286000"/>
            <a:ext cx="1783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B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Pune/Noida → 1.0x; India Tier-1 → 0.9x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B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non-preferred → 0.78x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B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Non-India willing to relocate → 0.55x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709160"/>
            <a:ext cx="8412480" cy="301752"/>
          </a:xfrm>
          <a:prstGeom prst="roundRect">
            <a:avLst>
              <a:gd name="adj" fmla="val 21212"/>
            </a:avLst>
          </a:prstGeom>
          <a:solidFill>
            <a:srgbClr val="2A3F60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70916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Availability Multiplier (0.45 + 0.55 × avail) — ensures unreachable candidates rank below active ones regardless of skill score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Analysis: Reading for Production Evidence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ask 'what did they list?' — we ask 'what did they ship?'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84124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73152" cy="841248"/>
          </a:xfrm>
          <a:prstGeom prst="roundRect">
            <a:avLst>
              <a:gd name="adj" fmla="val 50000"/>
            </a:avLst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807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production_retrieval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1399032"/>
            <a:ext cx="411480" cy="201168"/>
          </a:xfrm>
          <a:prstGeom prst="roundRect">
            <a:avLst>
              <a:gd name="adj" fmla="val 18182"/>
            </a:avLst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3990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16733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· vector search · semantic search · embedding · elasticsearch · faiss · pinecone · bm25 · hybrid search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760720" y="141732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in job description text or title. Indicates candidate has built real search systems.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84124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286000"/>
            <a:ext cx="73152" cy="841248"/>
          </a:xfrm>
          <a:prstGeom prst="roundRect">
            <a:avLst>
              <a:gd name="adj" fmla="val 50000"/>
            </a:avLst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3408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production_ranking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06040" y="2359152"/>
            <a:ext cx="411480" cy="201168"/>
          </a:xfrm>
          <a:prstGeom prst="roundRect">
            <a:avLst>
              <a:gd name="adj" fmla="val 18182"/>
            </a:avLst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2359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8640" y="26334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· rerank · learning to rank · ltr · recommendation · discovery feed · lightgbm · ranking model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760720" y="23774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of shipped LTR/recommendation models, not just familiarity.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84124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246120"/>
            <a:ext cx="73152" cy="84124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3009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production_ml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606040" y="3319272"/>
            <a:ext cx="411480" cy="201168"/>
          </a:xfrm>
          <a:prstGeom prst="roundRect">
            <a:avLst>
              <a:gd name="adj" fmla="val 18182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06040" y="33192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48640" y="35935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· deployed · shipped · a/b test · serving · latency · inference · real-time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760720" y="33375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of these in description = likely deployed to real users, not just notebooks.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4206240"/>
            <a:ext cx="84124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206240"/>
            <a:ext cx="73152" cy="841248"/>
          </a:xfrm>
          <a:prstGeom prst="roundRect">
            <a:avLst>
              <a:gd name="adj" fmla="val 50000"/>
            </a:avLst>
          </a:prstGeom>
          <a:solidFill>
            <a:srgbClr val="2DB88C"/>
          </a:solidFill>
          <a:ln w="12700">
            <a:solidFill>
              <a:srgbClr val="2DB8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61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eval_framework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606040" y="4279392"/>
            <a:ext cx="411480" cy="201168"/>
          </a:xfrm>
          <a:prstGeom prst="roundRect">
            <a:avLst>
              <a:gd name="adj" fmla="val 18182"/>
            </a:avLst>
          </a:prstGeom>
          <a:solidFill>
            <a:srgbClr val="2DB88C"/>
          </a:solidFill>
          <a:ln w="12700">
            <a:solidFill>
              <a:srgbClr val="2DB8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06040" y="4279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8640" y="455371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 · mrr · a/b test · offline eval · relevance label · recall@ · precision@ · online experiment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760720" y="429768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how to measure search quality is a senior signal. JD: 'painful if you haven't done this.'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Signals: Availability is a Multiplier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0.95-skill candidate inactive for 11 months ranks below an active 0.65-skill candidate.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286000" cy="457200"/>
          </a:xfrm>
          <a:prstGeom prst="rect">
            <a:avLst/>
          </a:prstGeom>
          <a:solidFill>
            <a:srgbClr val="00A89D"/>
          </a:solidFill>
          <a:ln w="12700">
            <a:solidFill>
              <a:srgbClr val="3350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Active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834640" y="1280160"/>
            <a:ext cx="2286000" cy="457200"/>
          </a:xfrm>
          <a:prstGeom prst="rect">
            <a:avLst/>
          </a:prstGeom>
          <a:solidFill>
            <a:srgbClr val="00A89D"/>
          </a:solidFill>
          <a:ln w="12700">
            <a:solidFill>
              <a:srgbClr val="3350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1280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Score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212080" y="1280160"/>
            <a:ext cx="2286000" cy="457200"/>
          </a:xfrm>
          <a:prstGeom prst="rect">
            <a:avLst/>
          </a:prstGeom>
          <a:solidFill>
            <a:srgbClr val="00A89D"/>
          </a:solidFill>
          <a:ln w="12700">
            <a:solidFill>
              <a:srgbClr val="3350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0" y="1280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Open-to-Work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755648"/>
            <a:ext cx="2286000" cy="457200"/>
          </a:xfrm>
          <a:prstGeom prst="rect">
            <a:avLst/>
          </a:prstGeom>
          <a:solidFill>
            <a:srgbClr val="243660"/>
          </a:solidFill>
          <a:ln w="12700">
            <a:solidFill>
              <a:srgbClr val="3350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7556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30 days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34640" y="1755648"/>
            <a:ext cx="2286000" cy="457200"/>
          </a:xfrm>
          <a:prstGeom prst="rect">
            <a:avLst/>
          </a:prstGeom>
          <a:solidFill>
            <a:srgbClr val="243660"/>
          </a:solidFill>
          <a:ln w="12700">
            <a:solidFill>
              <a:srgbClr val="3350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17556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B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12080" y="1755648"/>
            <a:ext cx="2286000" cy="457200"/>
          </a:xfrm>
          <a:prstGeom prst="rect">
            <a:avLst/>
          </a:prstGeom>
          <a:solidFill>
            <a:srgbClr val="243660"/>
          </a:solidFill>
          <a:ln w="12700">
            <a:solidFill>
              <a:srgbClr val="3350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17556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B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 (capped)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231136"/>
            <a:ext cx="2286000" cy="457200"/>
          </a:xfrm>
          <a:prstGeom prst="rect">
            <a:avLst/>
          </a:prstGeom>
          <a:solidFill>
            <a:srgbClr val="2A3F60"/>
          </a:solidFill>
          <a:ln w="12700">
            <a:solidFill>
              <a:srgbClr val="3350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23113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31–90 days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834640" y="2231136"/>
            <a:ext cx="2286000" cy="457200"/>
          </a:xfrm>
          <a:prstGeom prst="rect">
            <a:avLst/>
          </a:prstGeom>
          <a:solidFill>
            <a:srgbClr val="2A3F60"/>
          </a:solidFill>
          <a:ln w="12700">
            <a:solidFill>
              <a:srgbClr val="3350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0" y="223113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12080" y="2231136"/>
            <a:ext cx="2286000" cy="457200"/>
          </a:xfrm>
          <a:prstGeom prst="rect">
            <a:avLst/>
          </a:prstGeom>
          <a:solidFill>
            <a:srgbClr val="2A3F60"/>
          </a:solidFill>
          <a:ln w="12700">
            <a:solidFill>
              <a:srgbClr val="3350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223113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706624"/>
            <a:ext cx="2286000" cy="457200"/>
          </a:xfrm>
          <a:prstGeom prst="rect">
            <a:avLst/>
          </a:prstGeom>
          <a:solidFill>
            <a:srgbClr val="243660"/>
          </a:solidFill>
          <a:ln w="12700">
            <a:solidFill>
              <a:srgbClr val="3350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7066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91–180 days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834640" y="2706624"/>
            <a:ext cx="2286000" cy="457200"/>
          </a:xfrm>
          <a:prstGeom prst="rect">
            <a:avLst/>
          </a:prstGeom>
          <a:solidFill>
            <a:srgbClr val="243660"/>
          </a:solidFill>
          <a:ln w="12700">
            <a:solidFill>
              <a:srgbClr val="3350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0" y="27066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12080" y="2706624"/>
            <a:ext cx="2286000" cy="457200"/>
          </a:xfrm>
          <a:prstGeom prst="rect">
            <a:avLst/>
          </a:prstGeom>
          <a:solidFill>
            <a:srgbClr val="243660"/>
          </a:solidFill>
          <a:ln w="12700">
            <a:solidFill>
              <a:srgbClr val="3350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27066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182112"/>
            <a:ext cx="2286000" cy="457200"/>
          </a:xfrm>
          <a:prstGeom prst="rect">
            <a:avLst/>
          </a:prstGeom>
          <a:solidFill>
            <a:srgbClr val="2A3F60"/>
          </a:solidFill>
          <a:ln w="12700">
            <a:solidFill>
              <a:srgbClr val="3350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1821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181–365 days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834640" y="3182112"/>
            <a:ext cx="2286000" cy="457200"/>
          </a:xfrm>
          <a:prstGeom prst="rect">
            <a:avLst/>
          </a:prstGeom>
          <a:solidFill>
            <a:srgbClr val="2A3F60"/>
          </a:solidFill>
          <a:ln w="12700">
            <a:solidFill>
              <a:srgbClr val="3350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0" y="31821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212080" y="3182112"/>
            <a:ext cx="2286000" cy="457200"/>
          </a:xfrm>
          <a:prstGeom prst="rect">
            <a:avLst/>
          </a:prstGeom>
          <a:solidFill>
            <a:srgbClr val="2A3F60"/>
          </a:solidFill>
          <a:ln w="12700">
            <a:solidFill>
              <a:srgbClr val="3350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0" y="31821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657600"/>
            <a:ext cx="2286000" cy="457200"/>
          </a:xfrm>
          <a:prstGeom prst="rect">
            <a:avLst/>
          </a:prstGeom>
          <a:solidFill>
            <a:srgbClr val="243660"/>
          </a:solidFill>
          <a:ln w="12700">
            <a:solidFill>
              <a:srgbClr val="33507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657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365 days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834640" y="3657600"/>
            <a:ext cx="2286000" cy="457200"/>
          </a:xfrm>
          <a:prstGeom prst="rect">
            <a:avLst/>
          </a:prstGeom>
          <a:solidFill>
            <a:srgbClr val="243660"/>
          </a:solidFill>
          <a:ln w="12700">
            <a:solidFill>
              <a:srgbClr val="3350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0" y="3657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212080" y="3657600"/>
            <a:ext cx="2286000" cy="457200"/>
          </a:xfrm>
          <a:prstGeom prst="rect">
            <a:avLst/>
          </a:prstGeom>
          <a:solidFill>
            <a:srgbClr val="243660"/>
          </a:solidFill>
          <a:ln w="12700">
            <a:solidFill>
              <a:srgbClr val="3350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0" y="3657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425196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2A3F60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427939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final_score = raw_score × (0.45 + 0.55 × availability)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40080" y="459028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 &lt; 10% → further ×0.55 penalty  |  Response rate &lt; 25% → ×0.75  |  Saved by ≥5 recruiters → ×1.03 bonus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 Detection: 5 Patterns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 honeypots in 100K candidates. &gt;10% in top 100 = disqualified. We detect them before scoring.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35608"/>
            <a:ext cx="347472" cy="347472"/>
          </a:xfrm>
          <a:prstGeom prst="ellipse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35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3441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skills, 0 months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60934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 skills with proficiency=expert/advanced and duration_months=0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03520" y="1417320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0" y="14173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→ 0.0 (impossible real-world usage)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029968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185416"/>
            <a:ext cx="347472" cy="347472"/>
          </a:xfrm>
          <a:prstGeom prst="ellipse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85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0939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 title + AI skill flood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23591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Manager / HR Manager title + 7+ core AI skills listed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03520" y="2167128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0" y="21671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→ 0.0 (keyword stuffing, not real background)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779776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2935224"/>
            <a:ext cx="347472" cy="347472"/>
          </a:xfrm>
          <a:prstGeom prst="ellipse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935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28437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behavioral signals zeroed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31089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signals = 0 (views, applications, connections, endorsements, searches) AND &gt;15 skills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03520" y="2916936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0" y="291693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→ 0.0 (synthetically zeroed profile)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529584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3685032"/>
            <a:ext cx="347472" cy="347472"/>
          </a:xfrm>
          <a:prstGeom prst="ellipse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685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35935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min &gt; salary max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38587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expected_salary_range.min &gt; expected_salary_range.max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303520" y="3666744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94960" y="366674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→ 0.0 (logically impossible data)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4279392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02920" y="4434840"/>
            <a:ext cx="347472" cy="347472"/>
          </a:xfrm>
          <a:prstGeom prst="ellipse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434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05840" y="43434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YoE &gt;&gt; company age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05840" y="46085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claims more YoE than current company has existed + margin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303520" y="4416552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94960" y="441655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→ 0.0 (temporal impossibility)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Top 5 Candidates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composite score — all India-based ML/Search engineers with production retrieval + ranking evidence.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2103120" cy="36576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0624" y="11155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candidate_id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14600" y="1115568"/>
            <a:ext cx="685800" cy="36576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9464" y="111556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115568"/>
            <a:ext cx="777240" cy="36576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00984" y="111556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69080" y="1115568"/>
            <a:ext cx="4709160" cy="36576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23944" y="111556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481328"/>
            <a:ext cx="2103120" cy="658368"/>
          </a:xfrm>
          <a:prstGeom prst="rect">
            <a:avLst/>
          </a:prstGeom>
          <a:solidFill>
            <a:srgbClr val="2A3F60"/>
          </a:solidFill>
          <a:ln w="12700">
            <a:solidFill>
              <a:srgbClr val="3350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148132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CAND_0018499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14600" y="1481328"/>
            <a:ext cx="685800" cy="658368"/>
          </a:xfrm>
          <a:prstGeom prst="rect">
            <a:avLst/>
          </a:prstGeom>
          <a:solidFill>
            <a:srgbClr val="2A3F60"/>
          </a:solidFill>
          <a:ln w="12700">
            <a:solidFill>
              <a:srgbClr val="3350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9464" y="1481328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46120" y="1481328"/>
            <a:ext cx="777240" cy="658368"/>
          </a:xfrm>
          <a:prstGeom prst="rect">
            <a:avLst/>
          </a:prstGeom>
          <a:solidFill>
            <a:srgbClr val="2A3F60"/>
          </a:solidFill>
          <a:ln w="12700">
            <a:solidFill>
              <a:srgbClr val="3350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00984" y="1481328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B8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0.8781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069080" y="1481328"/>
            <a:ext cx="4709160" cy="658368"/>
          </a:xfrm>
          <a:prstGeom prst="rect">
            <a:avLst/>
          </a:prstGeom>
          <a:solidFill>
            <a:srgbClr val="2A3F60"/>
          </a:solidFill>
          <a:ln w="12700">
            <a:solidFill>
              <a:srgbClr val="3350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23944" y="1481328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7yr Sr. ML Engineer at Zomato — retrieval + ranking shipped; embeddings, weaviate. Noida (JD-preferred), 15d notice, open to work.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2185416"/>
            <a:ext cx="2103120" cy="658368"/>
          </a:xfrm>
          <a:prstGeom prst="rect">
            <a:avLst/>
          </a:prstGeom>
          <a:solidFill>
            <a:srgbClr val="243660"/>
          </a:solidFill>
          <a:ln w="12700">
            <a:solidFill>
              <a:srgbClr val="3350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218541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CAND_0046525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14600" y="2185416"/>
            <a:ext cx="685800" cy="658368"/>
          </a:xfrm>
          <a:prstGeom prst="rect">
            <a:avLst/>
          </a:prstGeom>
          <a:solidFill>
            <a:srgbClr val="243660"/>
          </a:solidFill>
          <a:ln w="12700">
            <a:solidFill>
              <a:srgbClr val="3350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9464" y="2185416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46120" y="2185416"/>
            <a:ext cx="777240" cy="658368"/>
          </a:xfrm>
          <a:prstGeom prst="rect">
            <a:avLst/>
          </a:prstGeom>
          <a:solidFill>
            <a:srgbClr val="243660"/>
          </a:solidFill>
          <a:ln w="12700">
            <a:solidFill>
              <a:srgbClr val="3350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00984" y="2185416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B8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0.8738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069080" y="2185416"/>
            <a:ext cx="4709160" cy="658368"/>
          </a:xfrm>
          <a:prstGeom prst="rect">
            <a:avLst/>
          </a:prstGeom>
          <a:solidFill>
            <a:srgbClr val="243660"/>
          </a:solidFill>
          <a:ln w="12700">
            <a:solidFill>
              <a:srgbClr val="3350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23944" y="218541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6yr Sr. ML Engineer at Genpact AI — retrieval + ranking shipped; embeddings, elasticsearch. Pune (JD-preferred), strong match.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2889504"/>
            <a:ext cx="2103120" cy="658368"/>
          </a:xfrm>
          <a:prstGeom prst="rect">
            <a:avLst/>
          </a:prstGeom>
          <a:solidFill>
            <a:srgbClr val="2A3F60"/>
          </a:solidFill>
          <a:ln w="12700">
            <a:solidFill>
              <a:srgbClr val="3350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88950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CAND_0081846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14600" y="2889504"/>
            <a:ext cx="685800" cy="658368"/>
          </a:xfrm>
          <a:prstGeom prst="rect">
            <a:avLst/>
          </a:prstGeom>
          <a:solidFill>
            <a:srgbClr val="2A3F60"/>
          </a:solidFill>
          <a:ln w="12700">
            <a:solidFill>
              <a:srgbClr val="3350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9464" y="2889504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246120" y="2889504"/>
            <a:ext cx="777240" cy="658368"/>
          </a:xfrm>
          <a:prstGeom prst="rect">
            <a:avLst/>
          </a:prstGeom>
          <a:solidFill>
            <a:srgbClr val="2A3F60"/>
          </a:solidFill>
          <a:ln w="12700">
            <a:solidFill>
              <a:srgbClr val="3350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00984" y="2889504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B8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0.8694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069080" y="2889504"/>
            <a:ext cx="4709160" cy="658368"/>
          </a:xfrm>
          <a:prstGeom prst="rect">
            <a:avLst/>
          </a:prstGeom>
          <a:solidFill>
            <a:srgbClr val="2A3F60"/>
          </a:solidFill>
          <a:ln w="12700">
            <a:solidFill>
              <a:srgbClr val="33507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23944" y="2889504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7yr Lead AI Engineer at Razorpay — retrieval + ranking shipped; embeddings, pgvector. Jaipur, 30d notice, open to work.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5760" y="3593592"/>
            <a:ext cx="2103120" cy="658368"/>
          </a:xfrm>
          <a:prstGeom prst="rect">
            <a:avLst/>
          </a:prstGeom>
          <a:solidFill>
            <a:srgbClr val="243660"/>
          </a:solidFill>
          <a:ln w="12700">
            <a:solidFill>
              <a:srgbClr val="3350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0624" y="359359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CAND_0055905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514600" y="3593592"/>
            <a:ext cx="685800" cy="658368"/>
          </a:xfrm>
          <a:prstGeom prst="rect">
            <a:avLst/>
          </a:prstGeom>
          <a:solidFill>
            <a:srgbClr val="243660"/>
          </a:solidFill>
          <a:ln w="12700">
            <a:solidFill>
              <a:srgbClr val="3350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69464" y="3593592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246120" y="3593592"/>
            <a:ext cx="777240" cy="658368"/>
          </a:xfrm>
          <a:prstGeom prst="rect">
            <a:avLst/>
          </a:prstGeom>
          <a:solidFill>
            <a:srgbClr val="243660"/>
          </a:solidFill>
          <a:ln w="12700">
            <a:solidFill>
              <a:srgbClr val="33507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00984" y="3593592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B8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0.8652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069080" y="3593592"/>
            <a:ext cx="4709160" cy="658368"/>
          </a:xfrm>
          <a:prstGeom prst="rect">
            <a:avLst/>
          </a:prstGeom>
          <a:solidFill>
            <a:srgbClr val="243660"/>
          </a:solidFill>
          <a:ln w="12700">
            <a:solidFill>
              <a:srgbClr val="33507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23944" y="3593592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8yr Sr. ML Engineer at Flipkart — retrieval + ranking shipped; embeddings, opensearch. Strong match, 30d notice.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65760" y="4297680"/>
            <a:ext cx="2103120" cy="658368"/>
          </a:xfrm>
          <a:prstGeom prst="rect">
            <a:avLst/>
          </a:prstGeom>
          <a:solidFill>
            <a:srgbClr val="2A3F60"/>
          </a:solidFill>
          <a:ln w="12700">
            <a:solidFill>
              <a:srgbClr val="33507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0624" y="429768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CAND_0002025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514600" y="4297680"/>
            <a:ext cx="685800" cy="658368"/>
          </a:xfrm>
          <a:prstGeom prst="rect">
            <a:avLst/>
          </a:prstGeom>
          <a:solidFill>
            <a:srgbClr val="2A3F60"/>
          </a:solidFill>
          <a:ln w="12700">
            <a:solidFill>
              <a:srgbClr val="33507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69464" y="429768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246120" y="4297680"/>
            <a:ext cx="777240" cy="658368"/>
          </a:xfrm>
          <a:prstGeom prst="rect">
            <a:avLst/>
          </a:prstGeom>
          <a:solidFill>
            <a:srgbClr val="2A3F60"/>
          </a:solidFill>
          <a:ln w="12700">
            <a:solidFill>
              <a:srgbClr val="33507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00984" y="4297680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B8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0.8482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4069080" y="4297680"/>
            <a:ext cx="4709160" cy="658368"/>
          </a:xfrm>
          <a:prstGeom prst="rect">
            <a:avLst/>
          </a:prstGeom>
          <a:solidFill>
            <a:srgbClr val="2A3F60"/>
          </a:solidFill>
          <a:ln w="12700">
            <a:solidFill>
              <a:srgbClr val="33507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23944" y="4297680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6yr Sr. AI Engineer at Apple — retrieval + ranking shipped; embeddings, opensearch. Trivandrum, 30d notice.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65760" y="5029200"/>
            <a:ext cx="8412480" cy="301752"/>
          </a:xfrm>
          <a:prstGeom prst="roundRect">
            <a:avLst>
              <a:gd name="adj" fmla="val 21212"/>
            </a:avLst>
          </a:prstGeom>
          <a:solidFill>
            <a:srgbClr val="2A3F60"/>
          </a:solidFill>
          <a:ln/>
        </p:spPr>
      </p:sp>
      <p:sp>
        <p:nvSpPr>
          <p:cNvPr id="53" name="Text 51"/>
          <p:cNvSpPr/>
          <p:nvPr/>
        </p:nvSpPr>
        <p:spPr>
          <a:xfrm>
            <a:off x="502920" y="502920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B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 100 rows · monotone scores · 0 honeypots in top 100 · all India-based AI/ML engineers · passes validate_submission.py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784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career depth (35%) &gt; skill match (30%)?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JD explicitly warns: keyword matching is a trap. A candidate can list 'Pinecone' without ever shipping search. Production evidence is more predictive than listed skills.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792224"/>
            <a:ext cx="84124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8562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is availability a multiplier, not additive?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15798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A 0.95 career score × 0.45 multiplier = 0.43 final. Additive would barely move them. Multiplicative puts unreachable candidates below actively-searching candidates with weaker skills.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670048"/>
            <a:ext cx="84124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7340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soft-score YoE instead of hard-filter?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03580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JD says 'some people hit senior judgment at 4 years.' A 4yr candidate with production evidence should rank above a 7yr candidate with no shipping evidence.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547872"/>
            <a:ext cx="84124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6118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penalize pure-services careers?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39136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JD explicitly: 'only consulting firms in entire career' = disqualifier. -0.20 to career component, not a total ban — services engineer with real production work can still rank.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4425696"/>
            <a:ext cx="84124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448970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detect eval framework (NDCG/A-B)?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479145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JD: 'if you've never thought about how to evaluate a ranking system, this role will be very painful.' Detecting this in career text is a direct quality proxy.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00A89D">
              <a:alpha val="20000"/>
            </a:srgbClr>
          </a:solidFill>
          <a:ln w="12700">
            <a:solidFill>
              <a:srgbClr val="00A89D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840480"/>
            <a:ext cx="2560320" cy="2560320"/>
          </a:xfrm>
          <a:prstGeom prst="ellipse">
            <a:avLst/>
          </a:prstGeom>
          <a:solidFill>
            <a:srgbClr val="E8523A">
              <a:alpha val="20000"/>
            </a:srgbClr>
          </a:solidFill>
          <a:ln w="12700">
            <a:solidFill>
              <a:srgbClr val="E8523A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743200" cy="36576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627632"/>
            <a:ext cx="201168" cy="201168"/>
          </a:xfrm>
          <a:prstGeom prst="ellipse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candidates ranked in &lt;35s on CPU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847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JSONL · parallel scoring · zero external dependencies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94360" y="2221992"/>
            <a:ext cx="201168" cy="201168"/>
          </a:xfrm>
          <a:prstGeom prst="ellipse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148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Four-dimensional scoring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4414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30% · Career 35% · Behavioral 20% · Location 15%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4360" y="2816352"/>
            <a:ext cx="201168" cy="201168"/>
          </a:xfrm>
          <a:prstGeom prst="ellipse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743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text analysis beats keyword matching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30358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detect SHIPPED systems, not listed buzzwords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3410712"/>
            <a:ext cx="201168" cy="201168"/>
          </a:xfrm>
          <a:prstGeom prst="ellipse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337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is a multiplier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36301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candidates demoted regardless of skill score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" y="4005072"/>
            <a:ext cx="201168" cy="201168"/>
          </a:xfrm>
          <a:prstGeom prst="ellipse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honeypot detection patterns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4224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skill combos, zeroed signals, salary inversion, temporal impossibility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4360" y="4599432"/>
            <a:ext cx="201168" cy="201168"/>
          </a:xfrm>
          <a:prstGeom prst="ellipse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526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submission — top 5 (real scores)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8188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CAND_0018499 (0.878) · CAND_0046525 (0.874) · CAND_0081846 (0.869)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Redrob Hackathon — Intelligent Candidate Ranker</dc:title>
  <dc:subject>PptxGenJS Presentation</dc:subject>
  <dc:creator>PptxGenJS</dc:creator>
  <cp:lastModifiedBy>PptxGenJS</cp:lastModifiedBy>
  <cp:revision>1</cp:revision>
  <dcterms:created xsi:type="dcterms:W3CDTF">2026-06-18T04:56:55Z</dcterms:created>
  <dcterms:modified xsi:type="dcterms:W3CDTF">2026-06-18T04:56:55Z</dcterms:modified>
</cp:coreProperties>
</file>